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3247" y="781938"/>
            <a:ext cx="999553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FC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5947" y="1472012"/>
            <a:ext cx="7958455" cy="4070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06034" y="6464680"/>
            <a:ext cx="98044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680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hyperlink" Target="https://github.com/rishabhnmishra/Credit_Card_Financial_Dashboar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3" y="1231391"/>
              <a:ext cx="9916668" cy="26502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4974" y="1546301"/>
            <a:ext cx="839279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dirty="0">
                <a:latin typeface="Arial"/>
                <a:cs typeface="Arial"/>
              </a:rPr>
              <a:t>CREDIT</a:t>
            </a:r>
            <a:r>
              <a:rPr sz="9600" b="1" spc="-390" dirty="0">
                <a:latin typeface="Arial"/>
                <a:cs typeface="Arial"/>
              </a:rPr>
              <a:t> </a:t>
            </a:r>
            <a:r>
              <a:rPr sz="9600" b="1" spc="-20" dirty="0">
                <a:latin typeface="Arial"/>
                <a:cs typeface="Arial"/>
              </a:rPr>
              <a:t>CARD</a:t>
            </a:r>
            <a:endParaRPr sz="9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6719" y="3121151"/>
            <a:ext cx="11261090" cy="3235960"/>
            <a:chOff x="426719" y="3121151"/>
            <a:chExt cx="11261090" cy="323596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24288" y="4593335"/>
              <a:ext cx="1763268" cy="17632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719" y="3121151"/>
              <a:ext cx="3535679" cy="16047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6719" y="3989831"/>
              <a:ext cx="5832348" cy="1604772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70305" y="3331540"/>
            <a:ext cx="4907915" cy="176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700" spc="-790" dirty="0">
                <a:solidFill>
                  <a:srgbClr val="FFC000"/>
                </a:solidFill>
                <a:latin typeface="Arial MT"/>
                <a:cs typeface="Arial MT"/>
              </a:rPr>
              <a:t>WEEKLY</a:t>
            </a:r>
            <a:endParaRPr sz="5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700" spc="-805" dirty="0">
                <a:solidFill>
                  <a:srgbClr val="FFC000"/>
                </a:solidFill>
                <a:latin typeface="Arial MT"/>
                <a:cs typeface="Arial MT"/>
              </a:rPr>
              <a:t>STATUS</a:t>
            </a:r>
            <a:r>
              <a:rPr sz="5700" spc="-27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sz="5700" spc="-745" dirty="0">
                <a:solidFill>
                  <a:srgbClr val="FFC000"/>
                </a:solidFill>
                <a:latin typeface="Arial MT"/>
                <a:cs typeface="Arial MT"/>
              </a:rPr>
              <a:t>REPORT</a:t>
            </a:r>
            <a:endParaRPr sz="5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947" y="465226"/>
            <a:ext cx="7979409" cy="4823460"/>
          </a:xfrm>
          <a:prstGeom prst="rect">
            <a:avLst/>
          </a:prstGeom>
        </p:spPr>
        <p:txBody>
          <a:bodyPr vert="horz" wrap="square" lIns="0" tIns="328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0"/>
              </a:spcBef>
            </a:pP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Content</a:t>
            </a:r>
            <a:r>
              <a:rPr sz="4000" spc="-50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in</a:t>
            </a:r>
            <a:r>
              <a:rPr sz="4000" spc="-45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this</a:t>
            </a:r>
            <a:r>
              <a:rPr sz="4000" spc="-45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tutorial</a:t>
            </a:r>
            <a:r>
              <a:rPr sz="4000" spc="-40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spc="-20" dirty="0">
                <a:solidFill>
                  <a:srgbClr val="FFC000"/>
                </a:solidFill>
                <a:latin typeface="Arial Black"/>
                <a:cs typeface="Arial Black"/>
              </a:rPr>
              <a:t>video</a:t>
            </a:r>
            <a:endParaRPr sz="4000" dirty="0">
              <a:latin typeface="Arial Black"/>
              <a:cs typeface="Arial Black"/>
            </a:endParaRPr>
          </a:p>
          <a:p>
            <a:pPr marL="777875" indent="-743585">
              <a:lnSpc>
                <a:spcPct val="100000"/>
              </a:lnSpc>
              <a:spcBef>
                <a:spcPts val="2485"/>
              </a:spcBef>
              <a:buAutoNum type="arabicPeriod"/>
              <a:tabLst>
                <a:tab pos="77787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4000" spc="-1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objective</a:t>
            </a:r>
            <a:endParaRPr sz="4000" dirty="0">
              <a:latin typeface="Calibri"/>
              <a:cs typeface="Calibri"/>
            </a:endParaRPr>
          </a:p>
          <a:p>
            <a:pPr marL="777875" indent="-74358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77787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400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40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4000" dirty="0">
              <a:latin typeface="Calibri"/>
              <a:cs typeface="Calibri"/>
            </a:endParaRPr>
          </a:p>
          <a:p>
            <a:pPr marL="777875" indent="-743585">
              <a:lnSpc>
                <a:spcPct val="100000"/>
              </a:lnSpc>
              <a:spcBef>
                <a:spcPts val="1005"/>
              </a:spcBef>
              <a:buAutoNum type="arabicPeriod"/>
              <a:tabLst>
                <a:tab pos="77787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4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DAX</a:t>
            </a:r>
            <a:endParaRPr sz="4000" dirty="0">
              <a:latin typeface="Calibri"/>
              <a:cs typeface="Calibri"/>
            </a:endParaRPr>
          </a:p>
          <a:p>
            <a:pPr marL="777875" indent="-743585">
              <a:lnSpc>
                <a:spcPct val="100000"/>
              </a:lnSpc>
              <a:spcBef>
                <a:spcPts val="1000"/>
              </a:spcBef>
              <a:buAutoNum type="arabicPeriod"/>
              <a:tabLst>
                <a:tab pos="777875" algn="l"/>
              </a:tabLst>
            </a:pP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4000" dirty="0">
              <a:latin typeface="Calibri"/>
              <a:cs typeface="Calibri"/>
            </a:endParaRPr>
          </a:p>
          <a:p>
            <a:pPr marL="777875" indent="-74358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77787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Export</a:t>
            </a:r>
            <a:r>
              <a:rPr sz="4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4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4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0688" y="2275332"/>
            <a:ext cx="4401311" cy="381609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FAD06D-5DD5-61A0-EA70-6D32EA28856A}"/>
              </a:ext>
            </a:extLst>
          </p:cNvPr>
          <p:cNvSpPr/>
          <p:nvPr/>
        </p:nvSpPr>
        <p:spPr>
          <a:xfrm>
            <a:off x="5334000" y="6392774"/>
            <a:ext cx="1447800" cy="2503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E6166D-95D4-2051-7616-F2DFB74D700F}"/>
              </a:ext>
            </a:extLst>
          </p:cNvPr>
          <p:cNvSpPr/>
          <p:nvPr/>
        </p:nvSpPr>
        <p:spPr>
          <a:xfrm>
            <a:off x="5486400" y="6545174"/>
            <a:ext cx="1447800" cy="2503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947" y="781938"/>
            <a:ext cx="7202170" cy="4929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C000"/>
                </a:solidFill>
                <a:latin typeface="Arial Black"/>
                <a:cs typeface="Arial Black"/>
              </a:rPr>
              <a:t>Project</a:t>
            </a:r>
            <a:r>
              <a:rPr sz="4000" spc="5" dirty="0">
                <a:solidFill>
                  <a:srgbClr val="FFC000"/>
                </a:solidFill>
                <a:latin typeface="Arial Black"/>
                <a:cs typeface="Arial Black"/>
              </a:rPr>
              <a:t> </a:t>
            </a:r>
            <a:r>
              <a:rPr sz="4000" spc="-10" dirty="0">
                <a:solidFill>
                  <a:srgbClr val="FFC000"/>
                </a:solidFill>
                <a:latin typeface="Arial Black"/>
                <a:cs typeface="Arial Black"/>
              </a:rPr>
              <a:t>Objective</a:t>
            </a:r>
            <a:endParaRPr sz="4000">
              <a:latin typeface="Arial Black"/>
              <a:cs typeface="Arial Black"/>
            </a:endParaRPr>
          </a:p>
          <a:p>
            <a:pPr marL="12700" marR="5080">
              <a:lnSpc>
                <a:spcPct val="90000"/>
              </a:lnSpc>
              <a:spcBef>
                <a:spcPts val="3570"/>
              </a:spcBef>
            </a:pPr>
            <a:r>
              <a:rPr sz="4000" spc="-18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4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develop</a:t>
            </a:r>
            <a:r>
              <a:rPr sz="4000" spc="-1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4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comprehensive</a:t>
            </a:r>
            <a:r>
              <a:rPr sz="4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credit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r>
              <a:rPr sz="40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weekly</a:t>
            </a:r>
            <a:r>
              <a:rPr sz="40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dashboard</a:t>
            </a:r>
            <a:r>
              <a:rPr sz="4000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that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4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sz="4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key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metrics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4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trends,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enabling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stakeholders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4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monitor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sz="40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4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r>
              <a:rPr sz="40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Calibri"/>
                <a:cs typeface="Calibri"/>
              </a:rPr>
              <a:t>operations effectively.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53400" y="1548383"/>
            <a:ext cx="3773804" cy="4913630"/>
            <a:chOff x="8153400" y="1548383"/>
            <a:chExt cx="3773804" cy="49136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06939" y="1633727"/>
              <a:ext cx="1379220" cy="6553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1464" y="2147315"/>
              <a:ext cx="705612" cy="6964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82939" y="2080259"/>
              <a:ext cx="961644" cy="9555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53400" y="2636519"/>
              <a:ext cx="3773424" cy="38252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85147" y="1548383"/>
              <a:ext cx="836676" cy="76047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49F247-BBB7-D5D8-35CB-65BAB2545542}"/>
              </a:ext>
            </a:extLst>
          </p:cNvPr>
          <p:cNvSpPr/>
          <p:nvPr/>
        </p:nvSpPr>
        <p:spPr>
          <a:xfrm>
            <a:off x="5334000" y="6392774"/>
            <a:ext cx="1447800" cy="2503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/>
              <a:t>Import</a:t>
            </a:r>
            <a:r>
              <a:rPr spc="-35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SQL</a:t>
            </a:r>
            <a:r>
              <a:rPr spc="-20" dirty="0"/>
              <a:t> </a:t>
            </a:r>
            <a:r>
              <a:rPr spc="-10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947" y="1637563"/>
            <a:ext cx="5506085" cy="205295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756285" indent="-743585">
              <a:lnSpc>
                <a:spcPct val="100000"/>
              </a:lnSpc>
              <a:spcBef>
                <a:spcPts val="615"/>
              </a:spcBef>
              <a:buAutoNum type="arabicPeriod"/>
              <a:tabLst>
                <a:tab pos="75628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Prepare</a:t>
            </a:r>
            <a:r>
              <a:rPr sz="4000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sz="4000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endParaRPr sz="40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520"/>
              </a:spcBef>
              <a:buAutoNum type="arabicPeriod"/>
              <a:tabLst>
                <a:tab pos="75628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4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4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40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530"/>
              </a:spcBef>
              <a:buAutoNum type="arabicPeriod"/>
              <a:tabLst>
                <a:tab pos="756285" algn="l"/>
              </a:tabLst>
            </a:pP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import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csv</a:t>
            </a:r>
            <a:r>
              <a:rPr sz="4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file</a:t>
            </a:r>
            <a:r>
              <a:rPr sz="4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4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2052" y="3268979"/>
            <a:ext cx="900683" cy="81838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390894" y="4258817"/>
            <a:ext cx="3529965" cy="1160145"/>
            <a:chOff x="6390894" y="4258817"/>
            <a:chExt cx="3529965" cy="11601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9944" y="4277867"/>
              <a:ext cx="3491484" cy="11216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419" y="4268342"/>
              <a:ext cx="3510915" cy="1141095"/>
            </a:xfrm>
            <a:custGeom>
              <a:avLst/>
              <a:gdLst/>
              <a:ahLst/>
              <a:cxnLst/>
              <a:rect l="l" t="t" r="r" b="b"/>
              <a:pathLst>
                <a:path w="3510915" h="1141095">
                  <a:moveTo>
                    <a:pt x="0" y="1140713"/>
                  </a:moveTo>
                  <a:lnTo>
                    <a:pt x="3510534" y="1140713"/>
                  </a:lnTo>
                  <a:lnTo>
                    <a:pt x="3510534" y="0"/>
                  </a:lnTo>
                  <a:lnTo>
                    <a:pt x="0" y="0"/>
                  </a:lnTo>
                  <a:lnTo>
                    <a:pt x="0" y="1140713"/>
                  </a:lnTo>
                  <a:close/>
                </a:path>
              </a:pathLst>
            </a:custGeom>
            <a:ln w="190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2200" y="4216908"/>
            <a:ext cx="899922" cy="75818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0207752" y="1546860"/>
            <a:ext cx="1106805" cy="1619250"/>
            <a:chOff x="10207752" y="1546860"/>
            <a:chExt cx="1106805" cy="161925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07752" y="1546860"/>
              <a:ext cx="1106424" cy="110032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707624" y="2674620"/>
              <a:ext cx="180594" cy="3863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19232" y="2816352"/>
              <a:ext cx="227838" cy="34975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92384" y="2823972"/>
              <a:ext cx="290322" cy="34213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45947" y="5750763"/>
            <a:ext cx="990790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FFFFFF"/>
                </a:solidFill>
                <a:latin typeface="Calibri"/>
                <a:cs typeface="Calibri"/>
              </a:rPr>
              <a:t>NOTE:</a:t>
            </a:r>
            <a:r>
              <a:rPr sz="17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Find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17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queries</a:t>
            </a:r>
            <a:r>
              <a:rPr sz="1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data-</a:t>
            </a:r>
            <a:r>
              <a:rPr sz="17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github.com/rishabhnmishra/Credit_Card_Financial_Dashboard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CB2B9D-7156-AD86-85EC-D1DEB44F111D}"/>
              </a:ext>
            </a:extLst>
          </p:cNvPr>
          <p:cNvSpPr/>
          <p:nvPr/>
        </p:nvSpPr>
        <p:spPr>
          <a:xfrm>
            <a:off x="745947" y="5657088"/>
            <a:ext cx="9907905" cy="98602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/>
              <a:t>DAX</a:t>
            </a:r>
            <a:r>
              <a:rPr spc="-270" dirty="0"/>
              <a:t> </a:t>
            </a:r>
            <a:r>
              <a:rPr spc="-10" dirty="0"/>
              <a:t>Queries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7076" y="3473196"/>
            <a:ext cx="4344924" cy="25176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5947" y="1552062"/>
            <a:ext cx="7964805" cy="460565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AgeGroup</a:t>
            </a:r>
            <a:r>
              <a:rPr sz="16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SWITCH(</a:t>
            </a:r>
            <a:endParaRPr sz="16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204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TRUE(),</a:t>
            </a:r>
            <a:endParaRPr sz="1600">
              <a:latin typeface="Calibri"/>
              <a:cs typeface="Calibri"/>
            </a:endParaRPr>
          </a:p>
          <a:p>
            <a:pPr marL="242570" algn="just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30,</a:t>
            </a:r>
            <a:r>
              <a:rPr sz="1600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"20-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30",</a:t>
            </a:r>
            <a:endParaRPr sz="1600">
              <a:latin typeface="Calibri"/>
              <a:cs typeface="Calibri"/>
            </a:endParaRPr>
          </a:p>
          <a:p>
            <a:pPr marL="242570" marR="5080" algn="just">
              <a:lnSpc>
                <a:spcPct val="110400"/>
              </a:lnSpc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40,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"30-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40",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40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50,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"40-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50",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60,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"50-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60",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cust_detail'[customer_age]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60,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"60+",</a:t>
            </a:r>
            <a:endParaRPr sz="160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209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"unknown"</a:t>
            </a:r>
            <a:endParaRPr sz="160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190"/>
              </a:spcBef>
            </a:pP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600">
              <a:latin typeface="Calibri"/>
              <a:cs typeface="Calibri"/>
            </a:endParaRPr>
          </a:p>
          <a:p>
            <a:pPr marL="242570" marR="5881370" indent="-230504">
              <a:lnSpc>
                <a:spcPct val="11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IncomeGroup</a:t>
            </a:r>
            <a:r>
              <a:rPr sz="1600" b="1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SWITCH( TRUE(),</a:t>
            </a:r>
            <a:endParaRPr sz="160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204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cust_detail'[income]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 35000,</a:t>
            </a:r>
            <a:r>
              <a:rPr sz="16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"Low",</a:t>
            </a:r>
            <a:endParaRPr sz="1600">
              <a:latin typeface="Calibri"/>
              <a:cs typeface="Calibri"/>
            </a:endParaRPr>
          </a:p>
          <a:p>
            <a:pPr marL="242570" marR="651510">
              <a:lnSpc>
                <a:spcPct val="110000"/>
              </a:lnSpc>
              <a:spcBef>
                <a:spcPts val="1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cust_detail'[income]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35000</a:t>
            </a:r>
            <a:r>
              <a:rPr sz="16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&amp;&amp;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cust_detail'[income]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&lt;70000,</a:t>
            </a:r>
            <a:r>
              <a:rPr sz="16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"Med",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cust_detail'[income]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&gt;=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70000,</a:t>
            </a:r>
            <a:r>
              <a:rPr sz="16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"High",</a:t>
            </a:r>
            <a:endParaRPr sz="1600">
              <a:latin typeface="Calibri"/>
              <a:cs typeface="Calibri"/>
            </a:endParaRPr>
          </a:p>
          <a:p>
            <a:pPr marL="242570">
              <a:lnSpc>
                <a:spcPct val="100000"/>
              </a:lnSpc>
              <a:spcBef>
                <a:spcPts val="204"/>
              </a:spcBef>
            </a:pP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"unknown"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600" spc="-50" dirty="0">
                <a:solidFill>
                  <a:srgbClr val="FFFFFF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24D89-38D5-15D5-3E33-1B2919222DF8}"/>
              </a:ext>
            </a:extLst>
          </p:cNvPr>
          <p:cNvSpPr/>
          <p:nvPr/>
        </p:nvSpPr>
        <p:spPr>
          <a:xfrm>
            <a:off x="5334000" y="6392774"/>
            <a:ext cx="1447800" cy="2503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/>
              <a:t>DAX</a:t>
            </a:r>
            <a:r>
              <a:rPr spc="-270" dirty="0"/>
              <a:t> </a:t>
            </a:r>
            <a:r>
              <a:rPr spc="-10" dirty="0"/>
              <a:t>Queries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7076" y="3473196"/>
            <a:ext cx="4344924" cy="251764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45947" y="1715516"/>
            <a:ext cx="9453880" cy="389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week_num2</a:t>
            </a:r>
            <a:r>
              <a:rPr sz="16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WEEKNUM('public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cc_detail'[week_start_date])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6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cc_detail'[annual_fees]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+ 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cc_detail'[total_trans_amt]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+ 'public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cc_detail'[interest_earned]</a:t>
            </a:r>
            <a:endParaRPr sz="1600">
              <a:latin typeface="Calibri"/>
              <a:cs typeface="Calibri"/>
            </a:endParaRPr>
          </a:p>
          <a:p>
            <a:pPr marL="196850" marR="6122670" indent="-184785">
              <a:lnSpc>
                <a:spcPct val="110700"/>
              </a:lnSpc>
              <a:spcBef>
                <a:spcPts val="1905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Current_week_Reveneue</a:t>
            </a:r>
            <a:r>
              <a:rPr sz="1600" b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CALCULATE(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SUM('public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cc_detail'[Revenue]), FILTER(</a:t>
            </a:r>
            <a:endParaRPr sz="16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1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ALL('public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cc_detail'),</a:t>
            </a:r>
            <a:endParaRPr sz="16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204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cc_detail'[week_num2]</a:t>
            </a:r>
            <a:r>
              <a:rPr sz="1600" spc="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 MAX('public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cc_detail'[week_num2])))</a:t>
            </a:r>
            <a:endParaRPr sz="1600">
              <a:latin typeface="Calibri"/>
              <a:cs typeface="Calibri"/>
            </a:endParaRPr>
          </a:p>
          <a:p>
            <a:pPr marL="196850" marR="6037580" indent="-184785">
              <a:lnSpc>
                <a:spcPct val="110700"/>
              </a:lnSpc>
              <a:spcBef>
                <a:spcPts val="1390"/>
              </a:spcBef>
            </a:pP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Previous_week_Reveneue</a:t>
            </a:r>
            <a:r>
              <a:rPr sz="16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CALCULATE(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SUM('public</a:t>
            </a:r>
            <a:r>
              <a:rPr sz="16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cc_detail'[Revenue]), FILTER(</a:t>
            </a:r>
            <a:endParaRPr sz="16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190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ALL('public</a:t>
            </a:r>
            <a:r>
              <a:rPr sz="16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cc_detail'),</a:t>
            </a:r>
            <a:endParaRPr sz="1600">
              <a:latin typeface="Calibri"/>
              <a:cs typeface="Calibri"/>
            </a:endParaRPr>
          </a:p>
          <a:p>
            <a:pPr marL="381000">
              <a:lnSpc>
                <a:spcPct val="100000"/>
              </a:lnSpc>
              <a:spcBef>
                <a:spcPts val="204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'public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cc_detail'[week_num2]</a:t>
            </a:r>
            <a:r>
              <a:rPr sz="16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= MAX('public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cc_detail'[week_num2])-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1))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  <a:tabLst>
                <a:tab pos="8700770" algn="l"/>
              </a:tabLst>
            </a:pPr>
            <a:r>
              <a:rPr dirty="0"/>
              <a:t>Project</a:t>
            </a:r>
            <a:r>
              <a:rPr spc="-45" dirty="0"/>
              <a:t> </a:t>
            </a:r>
            <a:r>
              <a:rPr dirty="0"/>
              <a:t>Insights-</a:t>
            </a:r>
            <a:r>
              <a:rPr spc="-25" dirty="0"/>
              <a:t> </a:t>
            </a:r>
            <a:r>
              <a:rPr dirty="0"/>
              <a:t>Week</a:t>
            </a:r>
            <a:r>
              <a:rPr spc="-45" dirty="0"/>
              <a:t> </a:t>
            </a:r>
            <a:r>
              <a:rPr dirty="0"/>
              <a:t>53</a:t>
            </a:r>
            <a:r>
              <a:rPr spc="-40" dirty="0"/>
              <a:t> </a:t>
            </a:r>
            <a:r>
              <a:rPr spc="-10" dirty="0"/>
              <a:t>(31</a:t>
            </a:r>
            <a:r>
              <a:rPr sz="3975" spc="-15" baseline="25157" dirty="0"/>
              <a:t>st</a:t>
            </a:r>
            <a:r>
              <a:rPr sz="3975" baseline="25157" dirty="0"/>
              <a:t>	</a:t>
            </a:r>
            <a:r>
              <a:rPr sz="4000" spc="-20" dirty="0"/>
              <a:t>Dec)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8427719" y="2019300"/>
            <a:ext cx="3538854" cy="4409440"/>
            <a:chOff x="8427719" y="2019300"/>
            <a:chExt cx="3538854" cy="4409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58883" y="2019300"/>
              <a:ext cx="1789176" cy="8503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7719" y="2840736"/>
              <a:ext cx="3538728" cy="35874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45947" y="1508433"/>
            <a:ext cx="10269220" cy="49485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WoW</a:t>
            </a:r>
            <a:r>
              <a:rPr sz="22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FFFF"/>
                </a:solidFill>
                <a:latin typeface="Calibri"/>
                <a:cs typeface="Calibri"/>
              </a:rPr>
              <a:t>change:</a:t>
            </a:r>
            <a:endParaRPr sz="22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28.8%,</a:t>
            </a:r>
            <a:endParaRPr sz="20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Count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xx%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xx%</a:t>
            </a:r>
            <a:endParaRPr sz="20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count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xx%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b="1" dirty="0">
                <a:solidFill>
                  <a:srgbClr val="FFFFFF"/>
                </a:solidFill>
                <a:latin typeface="Calibri"/>
                <a:cs typeface="Calibri"/>
              </a:rPr>
              <a:t>Overview</a:t>
            </a:r>
            <a:r>
              <a:rPr sz="2200" b="1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b="1" spc="-20" dirty="0">
                <a:solidFill>
                  <a:srgbClr val="FFFFFF"/>
                </a:solidFill>
                <a:latin typeface="Calibri"/>
                <a:cs typeface="Calibri"/>
              </a:rPr>
              <a:t>YTD:</a:t>
            </a:r>
            <a:endParaRPr sz="22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57M</a:t>
            </a:r>
            <a:endParaRPr sz="20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interest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8M</a:t>
            </a:r>
            <a:endParaRPr sz="20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46M</a:t>
            </a:r>
            <a:endParaRPr sz="20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contributing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31M,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female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26M</a:t>
            </a:r>
            <a:endParaRPr sz="2000">
              <a:latin typeface="Calibri"/>
              <a:cs typeface="Calibri"/>
            </a:endParaRPr>
          </a:p>
          <a:p>
            <a:pPr marL="454659" marR="3836035" indent="-36004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454659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Blue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Silver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card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contributing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93%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overall transactions</a:t>
            </a:r>
            <a:endParaRPr sz="20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TX,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contributing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68%</a:t>
            </a:r>
            <a:endParaRPr sz="2000">
              <a:latin typeface="Calibri"/>
              <a:cs typeface="Calibri"/>
            </a:endParaRPr>
          </a:p>
          <a:p>
            <a:pPr marL="454025" indent="-35941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Activation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57.5%</a:t>
            </a:r>
            <a:endParaRPr sz="2000">
              <a:latin typeface="Calibri"/>
              <a:cs typeface="Calibri"/>
            </a:endParaRPr>
          </a:p>
          <a:p>
            <a:pPr marL="454025" indent="-359410">
              <a:lnSpc>
                <a:spcPts val="2230"/>
              </a:lnSpc>
              <a:spcBef>
                <a:spcPts val="275"/>
              </a:spcBef>
              <a:buFont typeface="Arial MT"/>
              <a:buChar char="•"/>
              <a:tabLst>
                <a:tab pos="45402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Delinquent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6.06%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ts val="1989"/>
              </a:lnSpc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Note:</a:t>
            </a:r>
            <a:r>
              <a:rPr sz="18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C5A62D-4057-812A-CD71-A07AD74F940B}"/>
              </a:ext>
            </a:extLst>
          </p:cNvPr>
          <p:cNvSpPr/>
          <p:nvPr/>
        </p:nvSpPr>
        <p:spPr>
          <a:xfrm>
            <a:off x="5334000" y="6392774"/>
            <a:ext cx="1447800" cy="2503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/>
              <a:t>Add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10" dirty="0"/>
              <a:t>resume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dirty="0"/>
              <a:t>Credit</a:t>
            </a:r>
            <a:r>
              <a:rPr spc="-70" dirty="0"/>
              <a:t> </a:t>
            </a:r>
            <a:r>
              <a:rPr dirty="0"/>
              <a:t>card</a:t>
            </a:r>
            <a:r>
              <a:rPr spc="-80" dirty="0"/>
              <a:t> </a:t>
            </a:r>
            <a:r>
              <a:rPr dirty="0"/>
              <a:t>financial</a:t>
            </a:r>
            <a:r>
              <a:rPr spc="-100" dirty="0"/>
              <a:t> </a:t>
            </a:r>
            <a:r>
              <a:rPr dirty="0"/>
              <a:t>dashboard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85" dirty="0"/>
              <a:t> </a:t>
            </a:r>
            <a:r>
              <a:rPr dirty="0"/>
              <a:t>Power</a:t>
            </a:r>
            <a:r>
              <a:rPr spc="-70" dirty="0"/>
              <a:t> </a:t>
            </a:r>
            <a:r>
              <a:rPr spc="-25" dirty="0"/>
              <a:t>BI:</a:t>
            </a:r>
          </a:p>
          <a:p>
            <a:pPr marL="372110" marR="21590" indent="-360045">
              <a:lnSpc>
                <a:spcPts val="3020"/>
              </a:lnSpc>
              <a:spcBef>
                <a:spcPts val="1075"/>
              </a:spcBef>
              <a:buFont typeface="Arial MT"/>
              <a:buChar char="•"/>
              <a:tabLst>
                <a:tab pos="372110" algn="l"/>
              </a:tabLst>
            </a:pPr>
            <a:r>
              <a:rPr sz="2800" b="0" dirty="0">
                <a:latin typeface="Calibri"/>
                <a:cs typeface="Calibri"/>
              </a:rPr>
              <a:t>Developed</a:t>
            </a:r>
            <a:r>
              <a:rPr sz="2800" b="0" spc="-11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an</a:t>
            </a:r>
            <a:r>
              <a:rPr sz="2800" b="0" spc="-10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interactive</a:t>
            </a:r>
            <a:r>
              <a:rPr sz="2800" b="0" spc="-11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dashboard</a:t>
            </a:r>
            <a:r>
              <a:rPr sz="2800" b="0" spc="-8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using transaction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and</a:t>
            </a:r>
            <a:r>
              <a:rPr sz="2800" b="0" spc="-5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customer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data</a:t>
            </a:r>
            <a:r>
              <a:rPr sz="2800" b="0" spc="-7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from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</a:t>
            </a:r>
            <a:r>
              <a:rPr sz="2800" b="0" spc="-7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SQL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database,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-7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provide</a:t>
            </a:r>
            <a:r>
              <a:rPr sz="2800" b="0" spc="-50" dirty="0">
                <a:latin typeface="Calibri"/>
                <a:cs typeface="Calibri"/>
              </a:rPr>
              <a:t> </a:t>
            </a:r>
            <a:r>
              <a:rPr sz="2800" b="0" spc="-20" dirty="0">
                <a:latin typeface="Calibri"/>
                <a:cs typeface="Calibri"/>
              </a:rPr>
              <a:t>real-</a:t>
            </a:r>
            <a:r>
              <a:rPr sz="2800" b="0" dirty="0">
                <a:latin typeface="Calibri"/>
                <a:cs typeface="Calibri"/>
              </a:rPr>
              <a:t>time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insights.</a:t>
            </a:r>
            <a:endParaRPr sz="2800">
              <a:latin typeface="Calibri"/>
              <a:cs typeface="Calibri"/>
            </a:endParaRPr>
          </a:p>
          <a:p>
            <a:pPr marL="372110" marR="338455" indent="-360045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372110" algn="l"/>
              </a:tabLst>
            </a:pPr>
            <a:r>
              <a:rPr sz="2800" b="0" dirty="0">
                <a:latin typeface="Calibri"/>
                <a:cs typeface="Calibri"/>
              </a:rPr>
              <a:t>Streamlined</a:t>
            </a:r>
            <a:r>
              <a:rPr sz="2800" b="0" spc="-8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data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processing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&amp;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analysis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monitor </a:t>
            </a:r>
            <a:r>
              <a:rPr sz="2800" b="0" dirty="0">
                <a:latin typeface="Calibri"/>
                <a:cs typeface="Calibri"/>
              </a:rPr>
              <a:t>key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performance</a:t>
            </a:r>
            <a:r>
              <a:rPr sz="2800" b="0" spc="-5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metrics</a:t>
            </a:r>
            <a:r>
              <a:rPr sz="2800" b="0" spc="-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and</a:t>
            </a:r>
            <a:r>
              <a:rPr sz="2800" b="0" spc="-6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trends.</a:t>
            </a:r>
            <a:endParaRPr sz="2800">
              <a:latin typeface="Calibri"/>
              <a:cs typeface="Calibri"/>
            </a:endParaRPr>
          </a:p>
          <a:p>
            <a:pPr marL="370205" marR="240665" indent="-358140" algn="just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372110" algn="l"/>
              </a:tabLst>
            </a:pPr>
            <a:r>
              <a:rPr sz="2800" b="0" dirty="0">
                <a:latin typeface="Calibri"/>
                <a:cs typeface="Calibri"/>
              </a:rPr>
              <a:t>Shared</a:t>
            </a:r>
            <a:r>
              <a:rPr sz="2800" b="0" spc="-10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actionable</a:t>
            </a:r>
            <a:r>
              <a:rPr sz="2800" b="0" spc="-10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insights</a:t>
            </a:r>
            <a:r>
              <a:rPr sz="2800" b="0" spc="-7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with</a:t>
            </a:r>
            <a:r>
              <a:rPr sz="2800" b="0" spc="-105" dirty="0">
                <a:latin typeface="Calibri"/>
                <a:cs typeface="Calibri"/>
              </a:rPr>
              <a:t> </a:t>
            </a:r>
            <a:r>
              <a:rPr sz="2800" b="0" spc="-20" dirty="0">
                <a:latin typeface="Calibri"/>
                <a:cs typeface="Calibri"/>
              </a:rPr>
              <a:t>stakeholders</a:t>
            </a:r>
            <a:r>
              <a:rPr sz="2800" b="0" spc="-7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based 	</a:t>
            </a:r>
            <a:r>
              <a:rPr sz="2800" b="0" dirty="0">
                <a:latin typeface="Calibri"/>
                <a:cs typeface="Calibri"/>
              </a:rPr>
              <a:t>on</a:t>
            </a:r>
            <a:r>
              <a:rPr sz="2800" b="0" spc="-7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dashboard</a:t>
            </a:r>
            <a:r>
              <a:rPr sz="2800" b="0" spc="-5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findings</a:t>
            </a:r>
            <a:r>
              <a:rPr sz="2800" b="0" spc="-5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-8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support</a:t>
            </a:r>
            <a:r>
              <a:rPr sz="2800" b="0" spc="-45" dirty="0">
                <a:latin typeface="Calibri"/>
                <a:cs typeface="Calibri"/>
              </a:rPr>
              <a:t> </a:t>
            </a:r>
            <a:r>
              <a:rPr sz="2800" b="0" spc="-20" dirty="0">
                <a:latin typeface="Calibri"/>
                <a:cs typeface="Calibri"/>
              </a:rPr>
              <a:t>decision-</a:t>
            </a:r>
            <a:r>
              <a:rPr sz="2800" b="0" spc="-10" dirty="0">
                <a:latin typeface="Calibri"/>
                <a:cs typeface="Calibri"/>
              </a:rPr>
              <a:t>making 	processes.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9116" y="3134867"/>
            <a:ext cx="3128772" cy="31287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Rishabh</a:t>
            </a:r>
            <a:r>
              <a:rPr spc="-30" dirty="0"/>
              <a:t> </a:t>
            </a:r>
            <a:r>
              <a:rPr spc="-10" dirty="0"/>
              <a:t>Mishra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CA1516-35BB-9703-ADB6-1213D55CAE58}"/>
              </a:ext>
            </a:extLst>
          </p:cNvPr>
          <p:cNvSpPr/>
          <p:nvPr/>
        </p:nvSpPr>
        <p:spPr>
          <a:xfrm>
            <a:off x="5334000" y="6392774"/>
            <a:ext cx="1447800" cy="2503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612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Arial MT</vt:lpstr>
      <vt:lpstr>Calibri</vt:lpstr>
      <vt:lpstr>Office Theme</vt:lpstr>
      <vt:lpstr>CREDIT CARD</vt:lpstr>
      <vt:lpstr>PowerPoint Presentation</vt:lpstr>
      <vt:lpstr>PowerPoint Presentation</vt:lpstr>
      <vt:lpstr>Import data to SQL database</vt:lpstr>
      <vt:lpstr>DAX Queries</vt:lpstr>
      <vt:lpstr>DAX Queries</vt:lpstr>
      <vt:lpstr>Project Insights- Week 53 (31st Dec)</vt:lpstr>
      <vt:lpstr>Add to resume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Analyst Roadmap</dc:title>
  <dc:creator>Rishabh Mishra</dc:creator>
  <cp:lastModifiedBy>lalit</cp:lastModifiedBy>
  <cp:revision>2</cp:revision>
  <dcterms:created xsi:type="dcterms:W3CDTF">2025-04-17T00:49:21Z</dcterms:created>
  <dcterms:modified xsi:type="dcterms:W3CDTF">2025-04-17T01:09:52Z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2024-04-16T00:00:00Z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2025-04-17T00:00:00Z</vt:filetime>
  </property>
  <property fmtid="{D5CDD505-2E9C-101B-9397-08002B2CF9AE}" pid="5" name="Producer">
    <vt:lpwstr>Microsoft® PowerPoint® 2021</vt:lpwstr>
  </property>
</Properties>
</file>